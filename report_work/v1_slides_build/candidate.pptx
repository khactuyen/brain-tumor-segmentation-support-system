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b12c6ce936483e" /><Relationship Type="http://schemas.openxmlformats.org/officeDocument/2006/relationships/extended-properties" Target="/docProps/app.xml" Id="R3f3ee21dbefa4b55" /><Relationship Type="http://schemas.openxmlformats.org/officeDocument/2006/relationships/officeDocument" Target="/ppt/presentation.xml" Id="R9b7efc84c6054d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8e1eb302484929"/>
  </p:sldMasterIdLst>
  <p:notesMasterIdLst>
    <p:notesMasterId xmlns:r="http://schemas.openxmlformats.org/officeDocument/2006/relationships" r:id="R6702e6a1ba854bfc"/>
  </p:notesMasterIdLst>
  <p:sldIdLst>
    <p:sldId xmlns:r="http://schemas.openxmlformats.org/officeDocument/2006/relationships" id="256" r:id="R433d1a0ea0d24228"/>
    <p:sldId xmlns:r="http://schemas.openxmlformats.org/officeDocument/2006/relationships" id="257" r:id="R5dcbeabdd80b4c0a"/>
    <p:sldId xmlns:r="http://schemas.openxmlformats.org/officeDocument/2006/relationships" id="258" r:id="Reff2006b2fe34116"/>
    <p:sldId xmlns:r="http://schemas.openxmlformats.org/officeDocument/2006/relationships" id="259" r:id="R8fbf47e8dbd04fec"/>
    <p:sldId xmlns:r="http://schemas.openxmlformats.org/officeDocument/2006/relationships" id="260" r:id="R866d05e5b5594b35"/>
    <p:sldId xmlns:r="http://schemas.openxmlformats.org/officeDocument/2006/relationships" id="261" r:id="R7acc88360a7b4d9a"/>
    <p:sldId xmlns:r="http://schemas.openxmlformats.org/officeDocument/2006/relationships" id="262" r:id="Rc1c6e0927cbd4963"/>
    <p:sldId xmlns:r="http://schemas.openxmlformats.org/officeDocument/2006/relationships" id="263" r:id="Rf21079e2b937416c"/>
    <p:sldId xmlns:r="http://schemas.openxmlformats.org/officeDocument/2006/relationships" id="264" r:id="R5a8ad17ce08142c8"/>
    <p:sldId xmlns:r="http://schemas.openxmlformats.org/officeDocument/2006/relationships" id="265" r:id="R1432bc3c609b4a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e423654ca44024" /><Relationship Type="http://schemas.openxmlformats.org/officeDocument/2006/relationships/slideMaster" Target="/ppt/slideMasters/slideMaster1.xml" Id="R0b8e1eb302484929" /><Relationship Type="http://schemas.openxmlformats.org/officeDocument/2006/relationships/notesMaster" Target="/ppt/notesMasters/notesMaster1.xml" Id="R6702e6a1ba854bfc" /><Relationship Type="http://schemas.openxmlformats.org/officeDocument/2006/relationships/presProps" Target="/ppt/presProps.xml" Id="R82c9ba3d357b4b52" /><Relationship Type="http://schemas.openxmlformats.org/officeDocument/2006/relationships/tableStyles" Target="/ppt/tableStyles.xml" Id="R0c7cd908988d449e" /><Relationship Type="http://schemas.openxmlformats.org/officeDocument/2006/relationships/slide" Target="/ppt/slides/slide1.xml" Id="R433d1a0ea0d24228" /><Relationship Type="http://schemas.openxmlformats.org/officeDocument/2006/relationships/slide" Target="/ppt/slides/slide2.xml" Id="R5dcbeabdd80b4c0a" /><Relationship Type="http://schemas.openxmlformats.org/officeDocument/2006/relationships/slide" Target="/ppt/slides/slide3.xml" Id="Reff2006b2fe34116" /><Relationship Type="http://schemas.openxmlformats.org/officeDocument/2006/relationships/slide" Target="/ppt/slides/slide4.xml" Id="R8fbf47e8dbd04fec" /><Relationship Type="http://schemas.openxmlformats.org/officeDocument/2006/relationships/slide" Target="/ppt/slides/slide5.xml" Id="R866d05e5b5594b35" /><Relationship Type="http://schemas.openxmlformats.org/officeDocument/2006/relationships/slide" Target="/ppt/slides/slide6.xml" Id="R7acc88360a7b4d9a" /><Relationship Type="http://schemas.openxmlformats.org/officeDocument/2006/relationships/slide" Target="/ppt/slides/slide7.xml" Id="Rc1c6e0927cbd4963" /><Relationship Type="http://schemas.openxmlformats.org/officeDocument/2006/relationships/slide" Target="/ppt/slides/slide8.xml" Id="Rf21079e2b937416c" /><Relationship Type="http://schemas.openxmlformats.org/officeDocument/2006/relationships/slide" Target="/ppt/slides/slide9.xml" Id="R5a8ad17ce08142c8" /><Relationship Type="http://schemas.openxmlformats.org/officeDocument/2006/relationships/slide" Target="/ppt/slides/slide10.xml" Id="R1432bc3c609b4a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8bfc48560f46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c5e787a73e48eb" /><Relationship Type="http://schemas.openxmlformats.org/officeDocument/2006/relationships/notesMaster" Target="/ppt/notesMasters/notesMaster1.xml" Id="R2553fbb1325f40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6b1be1c365414e" /><Relationship Type="http://schemas.openxmlformats.org/officeDocument/2006/relationships/notesMaster" Target="/ppt/notesMasters/notesMaster1.xml" Id="Rb7a604dfcec347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f20c67c59f4949" /><Relationship Type="http://schemas.openxmlformats.org/officeDocument/2006/relationships/notesMaster" Target="/ppt/notesMasters/notesMaster1.xml" Id="R61bdb645aca04b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00e3246d4c4e4b" /><Relationship Type="http://schemas.openxmlformats.org/officeDocument/2006/relationships/notesMaster" Target="/ppt/notesMasters/notesMaster1.xml" Id="R9611e3717d2641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09d4c6fb1b46b2" /><Relationship Type="http://schemas.openxmlformats.org/officeDocument/2006/relationships/notesMaster" Target="/ppt/notesMasters/notesMaster1.xml" Id="Rf34d0efa60cb4a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4ea5625e8d42ff" /><Relationship Type="http://schemas.openxmlformats.org/officeDocument/2006/relationships/notesMaster" Target="/ppt/notesMasters/notesMaster1.xml" Id="R1bfc8214600740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7002a963d84f62" /><Relationship Type="http://schemas.openxmlformats.org/officeDocument/2006/relationships/notesMaster" Target="/ppt/notesMasters/notesMaster1.xml" Id="R8d5a2c75904549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180813193d4dbb" /><Relationship Type="http://schemas.openxmlformats.org/officeDocument/2006/relationships/notesMaster" Target="/ppt/notesMasters/notesMaster1.xml" Id="Rd5125bb24b8b40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4c5fd37a6b4d33" /><Relationship Type="http://schemas.openxmlformats.org/officeDocument/2006/relationships/notesMaster" Target="/ppt/notesMasters/notesMaster1.xml" Id="R6a4c5393226f47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04a936ec5f4830" /><Relationship Type="http://schemas.openxmlformats.org/officeDocument/2006/relationships/notesMaster" Target="/ppt/notesMasters/notesMaster1.xml" Id="R3b6812c494b943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Bộ slide trình bày hai notebook: v1 dùng 3D U-Net, v2 dùng Swin UNETR.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Mục tiêu là segmentation voxel-level; hai notebook dùng hai mô hình khác nhau.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Cần nhấn mạnh sự khác nhau giữa raw label 4 và class nội bộ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Pipeline đi từ file NIfTI đến prediction volume và hình trực quan hóa.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v1 là baseline 3D U-Net; v2 dùng Swin UNETR. Vì cohort và protocol khác nhau, cần thận trọng khi so sánh trực tiếp.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gọi đây là so sánh công bằng vì v1 và v2 không cùng cohort, split và protocol đánh giá.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HD95 tính theo khoảng cách vật lý có spacing, không chỉ khoảng cách voxel.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v1 có validation và held-out test. v2 chỉ có validation 204 ca, Mean Dice .8653 và ET luôn 1.0 theo output thống kê.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Hình chỉ là một ca thuận lợi để kiểm tra định tính; metric toàn test mới là bằng chứng chính.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luận cần phân biệt cải tiến mô hình với thay đổi protocol đánh giá.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6e7f2bfb5e45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adb0f570ae457b" /><Relationship Type="http://schemas.openxmlformats.org/officeDocument/2006/relationships/slideLayout" Target="/ppt/slideLayouts/slideLayout1.xml" Id="R504b99de249e47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4b99de249e47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9ec00c38144ed" /><Relationship Type="http://schemas.openxmlformats.org/officeDocument/2006/relationships/image" Target="/ppt/media/image.png" Id="Rca1801fba5954344" /><Relationship Type="http://schemas.openxmlformats.org/officeDocument/2006/relationships/notesSlide" Target="/ppt/notesSlides/notesSlide1.xml" Id="Ra2f972e54ff046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dae51ac9443da" /><Relationship Type="http://schemas.openxmlformats.org/officeDocument/2006/relationships/notesSlide" Target="/ppt/notesSlides/notesSlide2.xml" Id="R697f3980943545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00f3f2a2748ac" /><Relationship Type="http://schemas.openxmlformats.org/officeDocument/2006/relationships/image" Target="/ppt/media/image2.png" Id="R53ef8b18951d488e" /><Relationship Type="http://schemas.openxmlformats.org/officeDocument/2006/relationships/notesSlide" Target="/ppt/notesSlides/notesSlide3.xml" Id="R9b00f85c97e34f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565de48aa4be4" /><Relationship Type="http://schemas.openxmlformats.org/officeDocument/2006/relationships/notesSlide" Target="/ppt/notesSlides/notesSlide4.xml" Id="Rd0e668e8f96e40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8250cf9f046d6" /><Relationship Type="http://schemas.openxmlformats.org/officeDocument/2006/relationships/notesSlide" Target="/ppt/notesSlides/notesSlide5.xml" Id="Rb56fc80b337945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9c1d80e3742e7" /><Relationship Type="http://schemas.openxmlformats.org/officeDocument/2006/relationships/image" Target="/ppt/media/image3.png" Id="R36d3e0fef1494b6d" /><Relationship Type="http://schemas.openxmlformats.org/officeDocument/2006/relationships/notesSlide" Target="/ppt/notesSlides/notesSlide6.xml" Id="R549c8c8cb8c945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8ffd7ad6f463a" /><Relationship Type="http://schemas.openxmlformats.org/officeDocument/2006/relationships/notesSlide" Target="/ppt/notesSlides/notesSlide7.xml" Id="Rbd029be904bc4c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b691962a040af" /><Relationship Type="http://schemas.openxmlformats.org/officeDocument/2006/relationships/notesSlide" Target="/ppt/notesSlides/notesSlide8.xml" Id="Rf67cfad4bf2549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c7fbb58f54b9b" /><Relationship Type="http://schemas.openxmlformats.org/officeDocument/2006/relationships/image" Target="/ppt/media/image4.png" Id="Raad975dbf86f4923" /><Relationship Type="http://schemas.openxmlformats.org/officeDocument/2006/relationships/notesSlide" Target="/ppt/notesSlides/notesSlide9.xml" Id="Rb238c56518ff4f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1e9700d124ae6" /><Relationship Type="http://schemas.openxmlformats.org/officeDocument/2006/relationships/notesSlide" Target="/ppt/notesSlides/notesSlide10.xml" Id="R0b95d09bae804f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7C6E56-D946-401F-BC04-C8CA5F8B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6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9A494-F2B3-4BAE-90F0-4DA3A2EF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6B7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6B73"/>
                </a:solidFill>
                <a:latin typeface="Arial"/>
                <a:ea typeface="Arial"/>
                <a:cs typeface="Arial"/>
              </a:rPr>
              <a:t>SIC CAPSTONE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C4799-52E6-4CAA-9C5E-6F7A874F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Brain Tumor</a:t>
            </a:r>
          </a:p>
          <a:p xmlns:a="http://schemas.openxmlformats.org/drawingml/2006/main">
            <a:pPr algn="l">
              <a:defRPr sz="36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Segmentation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83F79-4439-4ED3-A8E0-6C513F01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8708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87086"/>
                </a:solidFill>
                <a:latin typeface="Arial"/>
                <a:ea typeface="Arial"/>
                <a:cs typeface="Arial"/>
              </a:rPr>
              <a:t>So sánh notebook v1 và v2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12572-97A6-4B4A-B67E-E237D2F7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B16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BC5AF-35E4-4762-A43C-6771B033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56B1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56B16"/>
                </a:solidFill>
                <a:latin typeface="Arial"/>
                <a:ea typeface="Arial"/>
                <a:cs typeface="Arial"/>
              </a:rPr>
              <a:t>3D U-Net  |  Swin UNETR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1801fba5954344"/>
          <a:stretch xmlns:a="http://schemas.openxmlformats.org/drawingml/2006/main"/>
        </p:blipFill>
        <p:spPr>
          <a:xfrm xmlns:a="http://schemas.openxmlformats.org/drawingml/2006/main">
            <a:off x="5166611" y="904875"/>
            <a:ext cx="6145028" cy="4762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9C905-294E-4E0C-B30F-CDC3F098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708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87086"/>
                </a:solidFill>
                <a:latin typeface="Arial"/>
                <a:ea typeface="Arial"/>
                <a:cs typeface="Arial"/>
              </a:rPr>
              <a:t>Trình bày dự án</a:t>
            </a:r>
          </a:p>
        </p:txBody>
      </p:sp>
    </p:spTree>
    <p:extLst>
      <p:ext uri="{BB962C8B-B14F-4D97-AF65-F5344CB8AC3E}">
        <p14:creationId xmlns:p14="http://schemas.microsoft.com/office/powerpoint/2010/main" val="18531040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66634B-67A0-4797-A446-76319A78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6B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6B73"/>
                </a:solidFill>
                <a:latin typeface="Arial"/>
                <a:ea typeface="Arial"/>
                <a:cs typeface="Arial"/>
              </a:rPr>
              <a:t>WHY THIS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6B86B5-C7D4-4F23-85F4-C8D0EE2A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2  Bối cảnh và bài toán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D166C-DC29-4F90-91FE-8DF72515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3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68720-63CF-4687-AC98-45FDEC42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8708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6"/>
                </a:solidFill>
                <a:latin typeface="Arial"/>
                <a:ea typeface="Arial"/>
                <a:cs typeface="Arial"/>
              </a:rPr>
              <a:t>SIC Capstone 2026  |  Notebook v1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9CC806-B61F-43A7-B490-5B38BC3F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8708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8C778-40F3-4882-829B-09B80484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B56B1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B56B16"/>
                </a:solidFill>
                <a:latin typeface="Arial"/>
                <a:ea typeface="Arial"/>
                <a:cs typeface="Arial"/>
              </a:rPr>
              <a:t>Từ ảnh MRI 3D đến mask vùng u có thể kiểm tra được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6E1F21-3CB4-4842-A010-C0442F50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5429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Phân đoạn thủ công tốn thời gian và phụ thuộc người đọc ảnh.</a:t>
            </a:r>
          </a:p>
          <a:p xmlns:a="http://schemas.openxmlformats.org/drawingml/2006/main">
            <a:pPr algn="l">
              <a:defRPr sz="1725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Mỗi ca có bốn modality MRI, mỗi modality bổ sung một tín hiệu mô học.</a:t>
            </a:r>
          </a:p>
          <a:p xmlns:a="http://schemas.openxmlformats.org/drawingml/2006/main">
            <a:pPr algn="l">
              <a:defRPr sz="1725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Notebook v1 tạo baseline với 3D U-Net; notebook v2 thử Swin UNETR.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D640B-9246-4667-B82E-CAB167A0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191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CFE2B-208B-41D2-A211-E3F55226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431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6B7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6B73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417E30-75AC-4A53-A864-4B3EEB1F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4 modality MRI</a:t>
            </a:r>
          </a:p>
          <a:p xmlns:a="http://schemas.openxmlformats.org/drawingml/2006/main">
            <a:pPr algn="l">
              <a:defRPr sz="187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T1  •  T1ce  •  T2  •  T2-FLAIR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C3D8E-18DB-4ED1-8A28-306242CF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71875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B16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13795D-924D-4E9E-BAEB-C3497999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10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6B7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6B73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CB5F88-251B-4D8C-834E-AA27C983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433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Mask 3D</a:t>
            </a:r>
          </a:p>
          <a:p xmlns:a="http://schemas.openxmlformats.org/drawingml/2006/main">
            <a:pPr algn="l">
              <a:defRPr sz="187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WT  •  TC  •  ET</a:t>
            </a:r>
          </a:p>
        </p:txBody>
      </p:sp>
    </p:spTree>
    <p:extLst>
      <p:ext uri="{BB962C8B-B14F-4D97-AF65-F5344CB8AC3E}">
        <p14:creationId xmlns:p14="http://schemas.microsoft.com/office/powerpoint/2010/main" val="14473199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BDB2D6-FD7E-401D-ADA2-51B04D17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6B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6B73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57F4C-4199-4247-8203-8DBD6D07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3  Dataset, modality và nhãn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2E9C8E-896A-4891-982F-401B6BC6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3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156D0-AACB-4278-8264-FE2E866E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8708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6"/>
                </a:solidFill>
                <a:latin typeface="Arial"/>
                <a:ea typeface="Arial"/>
                <a:cs typeface="Arial"/>
              </a:rPr>
              <a:t>SIC Capstone 2026  |  Notebook v1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BFF91-BC00-4DFD-8708-C983E054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8708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E6C76-14ED-4646-A96D-1E0F6F9B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B56B1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56B16"/>
                </a:solidFill>
                <a:latin typeface="Arial"/>
                <a:ea typeface="Arial"/>
                <a:cs typeface="Arial"/>
              </a:rPr>
              <a:t>1.251 ca BraTS, chuẩn hóa về một schema 3D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3CBC9-9238-434A-9466-3ECA1ED5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Volume ảnh: (4, 240, 240, 155), float32.</a:t>
            </a:r>
          </a:p>
          <a:p xmlns:a="http://schemas.openxmlformats.org/drawingml/2006/main">
            <a:pPr algn="l">
              <a:defRPr sz="1575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Label: (1, 240, 240, 155), các giá trị sau remap là 0, 1, 2, 3.</a:t>
            </a:r>
          </a:p>
          <a:p xmlns:a="http://schemas.openxmlformats.org/drawingml/2006/main">
            <a:pPr algn="l">
              <a:defRPr sz="1575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Raw label 4 được đưa về class nội bộ 3 để huấn luyện.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9BD9D-463D-4EA5-BDEC-6D35AEFF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4762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DD54C-4560-4242-A271-02388FF1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419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78C92-7717-4504-B6B5-3468D244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145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6DC183-2DF2-433E-B96F-BC291C85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145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5297B-F5E8-4CA7-AD1A-39121F9F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14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Ý nghĩa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F86F7E-290B-48FE-B8CB-3C4D60BC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52700"/>
            <a:ext cx="419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25D096-E5ED-4FD6-80BB-8CA27012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6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9903C5-94F1-4AE8-9064-CF62E5D2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EFF77-63B5-44F5-A847-5C55265B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Background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930DC6-A6B4-473C-9796-0272818E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05150"/>
            <a:ext cx="419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869F83-6B9D-40B9-B72F-B68926FE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194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334449-5944-47F4-9F34-C3783AC8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194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6F9D25-AE76-46BE-9437-B489C5B2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19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NCR/NET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CD0842-2F25-47AD-B268-41E69933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57600"/>
            <a:ext cx="419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86E9F6-2590-48DF-8BD9-19E75850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719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DF742D-DA14-41B4-9D89-45A83A77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719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060EC2-8330-423C-8C6B-DAD9336C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71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207546-0920-4AD3-AFF2-57E17A10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10050"/>
            <a:ext cx="419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0602AF-B17E-49FD-AA0B-BA368052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243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F97D03-AD9B-43C0-B738-F4498AA2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243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F59661-6CA8-4F55-AE77-3A8BDD89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24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9BAD74-4F27-4F02-BE2A-5B7CDAB6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196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6B7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6B73"/>
                </a:solidFill>
                <a:latin typeface="Arial"/>
                <a:ea typeface="Arial"/>
                <a:cs typeface="Arial"/>
              </a:rPr>
              <a:t>WT = label &gt; 0   |   TC = {1,3}   |   ET = label 3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f8b18951d488e"/>
          <a:stretch xmlns:a="http://schemas.openxmlformats.org/drawingml/2006/main"/>
        </p:blipFill>
        <p:spPr>
          <a:xfrm xmlns:a="http://schemas.openxmlformats.org/drawingml/2006/main">
            <a:off x="1645014" y="3952875"/>
            <a:ext cx="3091721" cy="2095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2632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6D4CEF-1FCC-4E5A-8ADD-EC459AEB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6B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6B73"/>
                </a:solidFill>
                <a:latin typeface="Arial"/>
                <a:ea typeface="Arial"/>
                <a:cs typeface="Arial"/>
              </a:rPr>
              <a:t>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7AEC4-101D-4621-88FE-F185C03A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4  Pipeline xử lý dữ liệu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E6B69-41FC-4B16-9D3A-39003A45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3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50F3E-BB7B-44B0-9B3C-585C1E4E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8708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6"/>
                </a:solidFill>
                <a:latin typeface="Arial"/>
                <a:ea typeface="Arial"/>
                <a:cs typeface="Arial"/>
              </a:rPr>
              <a:t>SIC Capstone 2026  |  Notebook v1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25B6D-A5B9-49C6-939D-D35F2477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8708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C2104-A9A4-44BF-8691-AA305EE7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B56B16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B56B16"/>
                </a:solidFill>
                <a:latin typeface="Arial"/>
                <a:ea typeface="Arial"/>
                <a:cs typeface="Arial"/>
              </a:rPr>
              <a:t>Mỗi bước biến dữ liệu thô thành một phép đo có thể audit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18FFEC-CB05-47CF-B4A2-9C446CCF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6AE10-07E0-4339-B95A-54A7DFEC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6B7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6B7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EA2DC-90A1-46F7-8F0D-1DF9D3B4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381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NIfTI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FB63B7-5323-4EC9-A02C-6DBFD8A0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708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87086"/>
                </a:solidFill>
                <a:latin typeface="Arial"/>
                <a:ea typeface="Arial"/>
                <a:cs typeface="Arial"/>
              </a:rPr>
              <a:t>Đọc 4 modality + mask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33354C-51B6-47AB-B485-6138785C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38375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F9B671-E3E4-47CD-A19E-6AA29F00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00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6B7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6B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970AC0-09A6-482A-ADFB-6FD3AB04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381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QC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873C30-6E92-49BF-8F6C-85E588C1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00350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708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87086"/>
                </a:solidFill>
                <a:latin typeface="Arial"/>
                <a:ea typeface="Arial"/>
                <a:cs typeface="Arial"/>
              </a:rPr>
              <a:t>Shape, affine, spacing, intensity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1EADEE-4CD0-405B-98BC-5B6225D2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38375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8803CB-4520-4B8E-838E-1C470687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6B7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6B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5F6E13-DA3D-46D2-AE03-337D216A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381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PREPROCESS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8EA6AC-0751-41E8-BBA4-B1470675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00350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708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87086"/>
                </a:solidFill>
                <a:latin typeface="Arial"/>
                <a:ea typeface="Arial"/>
                <a:cs typeface="Arial"/>
              </a:rPr>
              <a:t>Z-score, clip percentile, remap label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5B700D-5F4D-4CE4-8434-0FEDF9AE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BBBE33-CA2F-4071-B40B-3CEE4050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671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6B7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6B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AF74FD-057C-45D5-A3E1-B3BE76A4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048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SPLIT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95A10E-8784-4034-A9E2-3C3AD4C9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67225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708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87086"/>
                </a:solidFill>
                <a:latin typeface="Arial"/>
                <a:ea typeface="Arial"/>
                <a:cs typeface="Arial"/>
              </a:rPr>
              <a:t>70% train / 15% val / 15% 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5B5422-2338-4FAD-8C21-7222202C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0525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1F2BA9-59AA-4A77-91EF-2FB381BC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671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6B7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6B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BE61FF-1A22-433E-9294-7B194CFA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048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PATCH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7F92B9-5467-425B-B112-082FDCB4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67225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708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87086"/>
                </a:solidFill>
                <a:latin typeface="Arial"/>
                <a:ea typeface="Arial"/>
                <a:cs typeface="Arial"/>
              </a:rPr>
              <a:t>Crop 96³ + augmentation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885DBC-E339-4940-8829-AEBC64D9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0525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7527A5-0D9B-4CB5-8286-4CA7EC2B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671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6B7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6B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6E8572-F43B-4F5C-8DBF-9D0E5C6B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048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INFERENCE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AA8FA8-7758-4FBD-ADD3-D2A25F53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67225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708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87086"/>
                </a:solidFill>
                <a:latin typeface="Arial"/>
                <a:ea typeface="Arial"/>
                <a:cs typeface="Arial"/>
              </a:rPr>
              <a:t>Sliding window + TTA + postprocess</a:t>
            </a:r>
          </a:p>
        </p:txBody>
      </p:sp>
    </p:spTree>
    <p:extLst>
      <p:ext uri="{BB962C8B-B14F-4D97-AF65-F5344CB8AC3E}">
        <p14:creationId xmlns:p14="http://schemas.microsoft.com/office/powerpoint/2010/main" val="10951982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7C3C60-A0A1-4125-8135-09413756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6B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6B73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710EE-D41F-48AC-BFCA-0193DC69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5  Hai mô hình 3D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98248-A2DB-4059-BECB-CB02128D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3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8BD0EA-4F62-4854-A00B-E1EEC9AC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8708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6"/>
                </a:solidFill>
                <a:latin typeface="Arial"/>
                <a:ea typeface="Arial"/>
                <a:cs typeface="Arial"/>
              </a:rPr>
              <a:t>SIC Capstone 2026  |  Notebook v1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53DD6-B243-4271-9125-E47BBD82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8708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5BBA8-13A8-446A-B01B-DB577D8E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B56B16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B56B16"/>
                </a:solidFill>
                <a:latin typeface="Arial"/>
                <a:ea typeface="Arial"/>
                <a:cs typeface="Arial"/>
              </a:rPr>
              <a:t>v1 dùng 3D U-Net, v2 dùng Swin UNETR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430E2-338A-4888-9D0C-F3267D9D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381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A0C40-C1A4-489A-A07C-D622CF86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59563-9427-477E-838D-7F43C20E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4 × 96³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1D03F-353F-4AF0-A8DA-6A95D491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385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3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6B263C-7DC9-4AEC-B465-493C343C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480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6B7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6B73"/>
                </a:solidFill>
                <a:latin typeface="Arial"/>
                <a:ea typeface="Arial"/>
                <a:cs typeface="Arial"/>
              </a:rPr>
              <a:t>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73307E-B9FF-49A2-8B27-F79919B0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14625"/>
            <a:ext cx="1381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36D8F-9BA2-47B7-8B54-91E0B2EE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952750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A4AF54-7A05-40CD-9F2D-44688F1C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33375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3D U-Net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7A7567-E2CD-4654-A77F-00FECFAA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2385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3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F7BD08-7D0E-4439-9614-38525FBE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0480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6B7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6B73"/>
                </a:solidFill>
                <a:latin typeface="Arial"/>
                <a:ea typeface="Arial"/>
                <a:cs typeface="Arial"/>
              </a:rPr>
              <a:t>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E26967-186D-41BF-8915-BF4255B6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14625"/>
            <a:ext cx="1381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B16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1D94EF-C21C-4F1A-A7DF-FD66D547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Bottleneck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8659DB-2909-4BEC-9D9C-B2CA6D11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U-Net: 128 → 256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BC7EAC-88DC-42EB-BFFA-0E39B1FB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385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3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24963B-F436-4D09-9C4D-E4F1D349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480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6B7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6B73"/>
                </a:solidFill>
                <a:latin typeface="Arial"/>
                <a:ea typeface="Arial"/>
                <a:cs typeface="Arial"/>
              </a:rPr>
              <a:t>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275453-CE4D-4362-9616-9D82E095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14625"/>
            <a:ext cx="1381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9CDE3D-ADE5-4259-82C1-4A0913D7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52750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Decoder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26FEB5-C840-4E62-8940-9344955D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3375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Skip connections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41FEEB-7774-4547-8B75-18625F89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385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3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580BC6-75FD-4DDE-B7DE-CD970ABF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0480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6B7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6B73"/>
                </a:solidFill>
                <a:latin typeface="Arial"/>
                <a:ea typeface="Arial"/>
                <a:cs typeface="Arial"/>
              </a:rPr>
              <a:t>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B52031-CD60-44BD-91A1-8E44060B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14625"/>
            <a:ext cx="1381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E27674-8B61-4881-8926-F0092CB9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916FA2-095E-4AC4-8ECA-D1CB081A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4 classes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87760E-D988-4EA2-932C-49EE04BD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870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87086"/>
                </a:solidFill>
                <a:latin typeface="Arial"/>
                <a:ea typeface="Arial"/>
                <a:cs typeface="Arial"/>
              </a:rPr>
              <a:t>v1: 3D U-Net, 4.81M tham số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EF0B07-4BEE-42C3-AB9F-31EA5F25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3387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v2: Swin UNETR, 15.71M tham số</a:t>
            </a:r>
          </a:p>
          <a:p xmlns:a="http://schemas.openxmlformats.org/drawingml/2006/main">
            <a:pPr algn="l"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Transformer encoder, mạnh hơn nhưng cần protocol riêng.</a:t>
            </a:r>
          </a:p>
        </p:txBody>
      </p:sp>
    </p:spTree>
    <p:extLst>
      <p:ext uri="{BB962C8B-B14F-4D97-AF65-F5344CB8AC3E}">
        <p14:creationId xmlns:p14="http://schemas.microsoft.com/office/powerpoint/2010/main" val="3082567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5F02EE-9AB6-4CC4-8954-604B31A3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6B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6B73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A2B13-D4D6-411E-B8C6-A9A75A12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6  Huấn luyện và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D619A-00B7-4DE8-950C-EFAF6B11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3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672F9-D46C-4A36-B3E7-8E5C9EB6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8708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6"/>
                </a:solidFill>
                <a:latin typeface="Arial"/>
                <a:ea typeface="Arial"/>
                <a:cs typeface="Arial"/>
              </a:rPr>
              <a:t>SIC Capstone 2026  |  Notebook v1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BA52D-4803-4E55-85FE-CD93231B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8708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1CFE3-BC55-4082-A6BD-309C8D74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B56B1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B56B16"/>
                </a:solidFill>
                <a:latin typeface="Arial"/>
                <a:ea typeface="Arial"/>
                <a:cs typeface="Arial"/>
              </a:rPr>
              <a:t>Hai notebook đều chọn checkpoint trên validation, nhưng protocol khác nhau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d3e0fef1494b6d"/>
          <a:stretch xmlns:a="http://schemas.openxmlformats.org/drawingml/2006/main"/>
        </p:blipFill>
        <p:spPr>
          <a:xfrm xmlns:a="http://schemas.openxmlformats.org/drawingml/2006/main">
            <a:off x="619125" y="2890906"/>
            <a:ext cx="5619750" cy="198106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07B81-EE5D-4319-853D-09CD629A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47875"/>
            <a:ext cx="44767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B5EA68-8DF5-42EB-B55F-A82E04E0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381250"/>
            <a:ext cx="37623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v1: 3D U-Net, resume tới epoch 50, checkpoint epoch 40.</a:t>
            </a:r>
          </a:p>
          <a:p xmlns:a="http://schemas.openxmlformats.org/drawingml/2006/main">
            <a:pPr algn="l"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v2: Swin UNETR, feature_size 24, đã train đủ 20 epoch.</a:t>
            </a:r>
          </a:p>
          <a:p xmlns:a="http://schemas.openxmlformats.org/drawingml/2006/main">
            <a:pPr algn="l"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v1 có held-out test; v2 chỉ báo cáo validation.</a:t>
            </a:r>
          </a:p>
          <a:p xmlns:a="http://schemas.openxmlformats.org/drawingml/2006/main">
            <a:pPr algn="l"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Mixed precision + GradScaler dùng ở cả pipeline.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FB3DAD-6366-4652-A0CC-C33CFD2C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57750"/>
            <a:ext cx="352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6B7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6B73"/>
                </a:solidFill>
                <a:latin typeface="Arial"/>
                <a:ea typeface="Arial"/>
                <a:cs typeface="Arial"/>
              </a:rPr>
              <a:t>Đường cong hiển thị là của notebook v1.</a:t>
            </a:r>
          </a:p>
        </p:txBody>
      </p:sp>
    </p:spTree>
    <p:extLst>
      <p:ext uri="{BB962C8B-B14F-4D97-AF65-F5344CB8AC3E}">
        <p14:creationId xmlns:p14="http://schemas.microsoft.com/office/powerpoint/2010/main" val="5962667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560566-DF0D-4FD0-9D8F-B6B60571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6B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6B73"/>
                </a:solidFill>
                <a:latin typeface="Arial"/>
                <a:ea typeface="Arial"/>
                <a:cs typeface="Arial"/>
              </a:rPr>
              <a:t>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A7237-2C0D-4C1C-B291-82A1400F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7  Đánh giá mô hình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7F1C3-787C-446E-AF04-3DB97E65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3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59F7D-23DE-400F-A2A1-E634C963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8708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6"/>
                </a:solidFill>
                <a:latin typeface="Arial"/>
                <a:ea typeface="Arial"/>
                <a:cs typeface="Arial"/>
              </a:rPr>
              <a:t>SIC Capstone 2026  |  Notebook v1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17798-C52E-4868-9A55-C151C6EB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8708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6AE1D-D2D0-445D-9727-8E840C6C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B56B16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B56B16"/>
                </a:solidFill>
                <a:latin typeface="Arial"/>
                <a:ea typeface="Arial"/>
                <a:cs typeface="Arial"/>
              </a:rPr>
              <a:t>Một metric không đủ để mô tả chất lượng segmentation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E18AF-128D-4F06-A02C-8BE0AFCB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1952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B48580-1674-4454-8C92-2637D489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8605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76B7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6B73"/>
                </a:solidFill>
                <a:latin typeface="Arial"/>
                <a:ea typeface="Arial"/>
                <a:cs typeface="Arial"/>
              </a:rPr>
              <a:t>Dice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743D91-9773-4675-B368-BA57B68F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86125"/>
            <a:ext cx="1571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Độ chồng lấp</a:t>
            </a:r>
          </a:p>
          <a:p xmlns:a="http://schemas.openxmlformats.org/drawingml/2006/main">
            <a:pPr algn="ctr"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Càng cao càng tốt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D7E25-AB21-43F9-8E3A-81B2CA5D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952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30673-AC94-4F67-9B03-74C3BB64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8605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76B7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6B73"/>
                </a:solidFill>
                <a:latin typeface="Arial"/>
                <a:ea typeface="Arial"/>
                <a:cs typeface="Arial"/>
              </a:rPr>
              <a:t>IoU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802490-72AB-4AE9-A60F-7AAA84F7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86125"/>
            <a:ext cx="1571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Giao / hợp</a:t>
            </a:r>
          </a:p>
          <a:p xmlns:a="http://schemas.openxmlformats.org/drawingml/2006/main">
            <a:pPr algn="ctr"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Khắt khe hơn Dice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56A1FC-843D-4533-97C9-2C30B4DF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81250"/>
            <a:ext cx="1952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A43A84-8EA1-4299-AC4B-4B66A9A2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68605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76B7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6B73"/>
                </a:solidFill>
                <a:latin typeface="Arial"/>
                <a:ea typeface="Arial"/>
                <a:cs typeface="Arial"/>
              </a:rPr>
              <a:t>Precision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121740-6F56-4274-BFD1-1671A313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286125"/>
            <a:ext cx="1571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Dự đoán u đúng</a:t>
            </a:r>
          </a:p>
          <a:p xmlns:a="http://schemas.openxmlformats.org/drawingml/2006/main">
            <a:pPr algn="ctr"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Ít false positive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BE38BA-1814-4A2F-A1BF-76E98B1A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1952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4EB2ED-C9E2-48A2-98F6-2E7ED629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76B7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6B73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2B512A-31A8-4A83-A7BD-A80918E2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86125"/>
            <a:ext cx="1571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Tìm đủ vùng u</a:t>
            </a:r>
          </a:p>
          <a:p xmlns:a="http://schemas.openxmlformats.org/drawingml/2006/main">
            <a:pPr algn="ctr"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Ít false negative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8A063D-5271-48FC-BDEB-83C39048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81250"/>
            <a:ext cx="1952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B16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F0E0C5-4323-4388-AAFB-7B9B3DBA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68605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7F9FC"/>
                </a:solidFill>
                <a:latin typeface="Arial"/>
                <a:ea typeface="Arial"/>
                <a:cs typeface="Arial"/>
              </a:rPr>
              <a:t>HD95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B98729-4930-480E-A32A-8A121B80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286125"/>
            <a:ext cx="1571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7F9FC"/>
                </a:solidFill>
                <a:latin typeface="Arial"/>
                <a:ea typeface="Arial"/>
                <a:cs typeface="Arial"/>
              </a:rPr>
              <a:t>Khoảng cách biên</a:t>
            </a:r>
          </a:p>
          <a:p xmlns:a="http://schemas.openxmlformats.org/drawingml/2006/main">
            <a:pPr algn="ctr">
              <a:defRPr sz="1350" b="0" i="0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7F9FC"/>
                </a:solidFill>
                <a:latin typeface="Arial"/>
                <a:ea typeface="Arial"/>
                <a:cs typeface="Arial"/>
              </a:rPr>
              <a:t>Càng thấp càng tốt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BF4C29-6BAA-4CCF-ABC3-14E2897B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587086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587086"/>
                </a:solidFill>
                <a:latin typeface="Arial"/>
                <a:ea typeface="Arial"/>
                <a:cs typeface="Arial"/>
              </a:rPr>
              <a:t>Quy ước empty-empty trong notebook: Dice/IoU/Precision/Recall = 1, HD95 = 0.</a:t>
            </a:r>
          </a:p>
        </p:txBody>
      </p:sp>
    </p:spTree>
    <p:extLst>
      <p:ext uri="{BB962C8B-B14F-4D97-AF65-F5344CB8AC3E}">
        <p14:creationId xmlns:p14="http://schemas.microsoft.com/office/powerpoint/2010/main" val="20502852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F84FB8B-35E3-4185-9E71-DEB9F5CF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6B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6B73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24ACF-F840-4859-A8C2-409DA606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8  Kết quả của v1 và v2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EF055-A9E6-4B63-9B20-AFA0BB48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3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2819B-0DE4-4F02-9ECA-D8105BE8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8708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6"/>
                </a:solidFill>
                <a:latin typeface="Arial"/>
                <a:ea typeface="Arial"/>
                <a:cs typeface="Arial"/>
              </a:rPr>
              <a:t>SIC Capstone 2026  |  Notebook v1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7123F-A754-496D-8B2D-00D0DCBC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8708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E3643-6C3F-435D-BCA2-5AA8E9EF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56B1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B56B16"/>
                </a:solidFill>
                <a:latin typeface="Arial"/>
                <a:ea typeface="Arial"/>
                <a:cs typeface="Arial"/>
              </a:rPr>
              <a:t>Các con số chỉ nên đọc cùng với cohort và protocol tương ứng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CAA7D-D46B-466F-B8F4-79FDC42E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92B5A-F047-4DDB-88F9-41A4892C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09825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/ split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6D9D5-B4D4-4577-87B9-853D5CDB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383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F91CCD-3D9E-44EA-9199-2A1B820D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09825"/>
            <a:ext cx="1562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Mean Dice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6F742-AC3B-4F52-85DC-1C94F9E9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68CEAB-DA90-4463-BE69-2077C79E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098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43DB0-5752-4F36-B52B-43EA15E5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5FABB2-9464-427D-AC45-001AD056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98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41C3B8-C8F9-4995-9AA1-D771664A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84DE68-29EE-4519-A157-C5D89375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098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58ED82-0E18-4B93-96C7-C2FBF1E9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383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52958C-4E47-49F7-B197-BA14A247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09825"/>
            <a:ext cx="1562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HD95 (mm)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77954D-A1F3-41C3-BD4E-BA94FF96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5272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65D66B-CD4F-4230-8CD1-B61F2D95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v1 validation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2D6C35-0B11-46DB-99A6-E1B39945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52725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1C0508-595C-457F-9FCD-96757B73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33700"/>
            <a:ext cx="1562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0.8052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20EEBE-ADB1-43F0-BE21-09E01C3E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52725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CED624-2681-4F9D-9411-B7A4A354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0.8308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1D1EDE-A874-433B-AB2E-4273033C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52725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2AAAB7-93E0-49AC-906C-CAAA2246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337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0.8125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30F100-B478-4698-AE8D-BF6F4063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52725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CDDF98-EA4B-43D5-A57D-9EB76478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337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0.7724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0BB738-198E-45B5-AE31-7C24D6E3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52725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6946A3-D1A7-43B6-BB93-C2E478AE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33700"/>
            <a:ext cx="1562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29.683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C6F8FA-5028-4D18-9D07-35092A40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051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4E3C75-E772-445D-AF3E-E6C75500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v1 held-out test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F630E3-E162-4283-ACF9-E61A178B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05175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B9528D-8605-42D8-BF51-DD052412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486150"/>
            <a:ext cx="1562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0.7858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E8A1F8-A9E0-4388-B95F-5969822F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05175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13B492-3DA0-4C81-8B75-1CEF4699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8615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0.8158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E1F73F-0A4E-4B35-ABC5-6AA303AA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05175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A3A170-F52C-4634-AE31-BBEC3B29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8615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0.7938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EA6278-5727-4ED5-92C4-44B226C9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05175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9503FD-88B0-4063-9556-E5C9D2AD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8615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0.7476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34A932-3256-4967-9311-39D639BC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05175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837E51-F50B-46CA-9CA4-A9BDD5F8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86150"/>
            <a:ext cx="1562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31.117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0EAF95-BE1A-43D3-B12E-4AB01A96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981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F48696-FF05-4AC5-9090-D0F76759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719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v2 Swin UNETR validation (204 ca): Mean Dice 0.8653  |  WT 0.8498  |  TC 0.7461  |  ET 1.0000*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D7A943-C81E-4D76-94E3-98CC70BC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8708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87086"/>
                </a:solidFill>
                <a:latin typeface="Arial"/>
                <a:ea typeface="Arial"/>
                <a:cs typeface="Arial"/>
              </a:rPr>
              <a:t>*ET = 1.0 ở toàn bộ thống kê do quy ước empty-empty; v2 không có held-out test/HD95 trong output này.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1EB9E7-0ABB-4A5B-AADF-600FA297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B56B1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B56B16"/>
                </a:solidFill>
                <a:latin typeface="Arial"/>
                <a:ea typeface="Arial"/>
                <a:cs typeface="Arial"/>
              </a:rPr>
              <a:t>Không kết luận v2 tốt hơn v1 nếu chưa chạy cùng cohort, split và protocol.</a:t>
            </a:r>
          </a:p>
        </p:txBody>
      </p:sp>
    </p:spTree>
    <p:extLst>
      <p:ext uri="{BB962C8B-B14F-4D97-AF65-F5344CB8AC3E}">
        <p14:creationId xmlns:p14="http://schemas.microsoft.com/office/powerpoint/2010/main" val="14896422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53E0ED-0DC0-4292-ABAE-838D1FF0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6B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6B73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E616F-9CC4-4425-B925-4F8FC6CE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9  Trực quan hóa prediction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62D8F-CA45-41F8-9802-10A2F487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3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5319D-FA11-4E7C-BC66-75FB7D10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8708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6"/>
                </a:solidFill>
                <a:latin typeface="Arial"/>
                <a:ea typeface="Arial"/>
                <a:cs typeface="Arial"/>
              </a:rPr>
              <a:t>SIC Capstone 2026  |  Notebook v1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A6F4D-0BF9-46D8-82A3-1E8EFD64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8708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1371C-D6C7-4DAD-8F99-B872B873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56B1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B56B16"/>
                </a:solidFill>
                <a:latin typeface="Arial"/>
                <a:ea typeface="Arial"/>
                <a:cs typeface="Arial"/>
              </a:rPr>
              <a:t>Một ca mẫu cho thấy prediction bám khá sát ground truth ở cả ba mặt phẳng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d975dbf86f4923"/>
          <a:stretch xmlns:a="http://schemas.openxmlformats.org/drawingml/2006/main"/>
        </p:blipFill>
        <p:spPr>
          <a:xfrm xmlns:a="http://schemas.openxmlformats.org/drawingml/2006/main">
            <a:off x="1814413" y="2143125"/>
            <a:ext cx="5038923" cy="3905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62A9DC-C7AE-498D-901B-F223673A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90750"/>
            <a:ext cx="29051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20A61-7A1B-497A-812B-54744805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95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6B7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6B73"/>
                </a:solidFill>
                <a:latin typeface="Arial"/>
                <a:ea typeface="Arial"/>
                <a:cs typeface="Arial"/>
              </a:rPr>
              <a:t>Case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E67011-F30E-4DF8-A5B2-1DA3A7C9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098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BraTS-GLI-01021-000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D4D6B8-FA7A-40D7-80BA-F9B1F057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7662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Ba cột chính:</a:t>
            </a:r>
          </a:p>
          <a:p xmlns:a="http://schemas.openxmlformats.org/drawingml/2006/main">
            <a:pPr algn="l"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FLAIR • Ground truth • U-Net3d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CAD824-414C-4A2E-804C-D91F4D8D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24375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708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87086"/>
                </a:solidFill>
                <a:latin typeface="Arial"/>
                <a:ea typeface="Arial"/>
                <a:cs typeface="Arial"/>
              </a:rPr>
              <a:t>Hình minh họa giúp kiểm tra lỗi biên, vùng thiếu hoặc vùng dự đoán thừa.</a:t>
            </a:r>
          </a:p>
        </p:txBody>
      </p:sp>
    </p:spTree>
    <p:extLst>
      <p:ext uri="{BB962C8B-B14F-4D97-AF65-F5344CB8AC3E}">
        <p14:creationId xmlns:p14="http://schemas.microsoft.com/office/powerpoint/2010/main" val="5052906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0E6C1-A542-4420-9AD6-37E94AE3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6B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6B73"/>
                </a:solidFill>
                <a:latin typeface="Arial"/>
                <a:ea typeface="Arial"/>
                <a:cs typeface="Arial"/>
              </a:rPr>
              <a:t>TAKEAWAYS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FA77C-D06A-41DB-857A-5AA1FB23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10  Kết luận và điểm cần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CA098-3071-4044-B1E5-DCDA81F2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3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4AF48-6672-49E4-B12E-9B47A3AC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8708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6"/>
                </a:solidFill>
                <a:latin typeface="Arial"/>
                <a:ea typeface="Arial"/>
                <a:cs typeface="Arial"/>
              </a:rPr>
              <a:t>SIC Capstone 2026  |  Notebook v1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D9A44-584E-4126-AA81-3771B682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8708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708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043AF-B63D-4B82-9467-DA8BDF9B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56B1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B56B16"/>
                </a:solidFill>
                <a:latin typeface="Arial"/>
                <a:ea typeface="Arial"/>
                <a:cs typeface="Arial"/>
              </a:rPr>
              <a:t>Hai mô hình cho thấy tiến trình phát triển, chưa phải một phép so sánh công bằng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2F4A7-488A-4CFB-92CB-9E715CD9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4953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B5C789-27B5-4F30-94CD-514D350B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52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6B7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6B73"/>
                </a:solidFill>
                <a:latin typeface="Arial"/>
                <a:ea typeface="Arial"/>
                <a:cs typeface="Arial"/>
              </a:rPr>
              <a:t>Đã làm được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C47FD-CEFA-4BB5-A0F4-53F77721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4800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v1: 3D U-Net baseline, có held-out test.</a:t>
            </a:r>
          </a:p>
          <a:p xmlns:a="http://schemas.openxmlformats.org/drawingml/2006/main">
            <a:pPr algn="l">
              <a:defRPr sz="1575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v2: Swin UNETR, validation Mean Dice 0.8653.</a:t>
            </a:r>
          </a:p>
          <a:p xmlns:a="http://schemas.openxmlformats.org/drawingml/2006/main">
            <a:pPr algn="l">
              <a:defRPr sz="1575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Cả hai dùng bốn modality MRI và mask 3D.</a:t>
            </a:r>
          </a:p>
          <a:p xmlns:a="http://schemas.openxmlformats.org/drawingml/2006/main">
            <a:pPr algn="l">
              <a:defRPr sz="1575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Đã kiểm tra định tính bằng hình prediction.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D141E4-7B31-4957-B0C9-BC13A285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D3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DFAC6C-8ABF-4727-B87D-8406615B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52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4A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A44A4A"/>
                </a:solidFill>
                <a:latin typeface="Arial"/>
                <a:ea typeface="Arial"/>
                <a:cs typeface="Arial"/>
              </a:rPr>
              <a:t>Cần trả lời khi bảo vệ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577FD7-1390-4A59-90C5-3D183128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433387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Cohort và split khác nhau, không so sánh Dice trực tiếp.</a:t>
            </a:r>
          </a:p>
          <a:p xmlns:a="http://schemas.openxmlformats.org/drawingml/2006/main">
            <a:pPr algn="l">
              <a:defRPr sz="1575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v2 chỉ có validation, chưa có held-out test.</a:t>
            </a:r>
          </a:p>
          <a:p xmlns:a="http://schemas.openxmlformats.org/drawingml/2006/main">
            <a:pPr algn="l">
              <a:defRPr sz="1575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NIfTI output cần reverse-map class 3 → raw label 4 nếu theo chuẩn BraTS.</a:t>
            </a:r>
          </a:p>
          <a:p xmlns:a="http://schemas.openxmlformats.org/drawingml/2006/main">
            <a:pPr algn="l">
              <a:defRPr sz="1575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Kết quả chưa phải chẩn đoán lâm sàng.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9B8250-76B9-4945-B693-B393DE76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B56B1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B56B16"/>
                </a:solidFill>
                <a:latin typeface="Arial"/>
                <a:ea typeface="Arial"/>
                <a:cs typeface="Arial"/>
              </a:rPr>
              <a:t>Thông điệp cuối: so sánh đúng protocol trước khi so sánh con số.</a:t>
            </a:r>
          </a:p>
        </p:txBody>
      </p:sp>
    </p:spTree>
    <p:extLst>
      <p:ext uri="{BB962C8B-B14F-4D97-AF65-F5344CB8AC3E}">
        <p14:creationId xmlns:p14="http://schemas.microsoft.com/office/powerpoint/2010/main" val="19835999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2026-09-16T09:18:08.1640000Z</dcterms:created>
  <dcterms:modified xsi:type="dcterms:W3CDTF">2026-09-16T09:18:08.1640000Z</dcterms:modified>
</coreProperties>
</file>